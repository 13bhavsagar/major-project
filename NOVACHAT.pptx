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87" r:id="rId6"/>
    <p:sldId id="386" r:id="rId7"/>
    <p:sldId id="375" r:id="rId8"/>
    <p:sldId id="382" r:id="rId9"/>
    <p:sldId id="384" r:id="rId10"/>
    <p:sldId id="377" r:id="rId11"/>
    <p:sldId id="385" r:id="rId12"/>
    <p:sldId id="380" r:id="rId13"/>
    <p:sldId id="3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E3FBFE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2894" y="241628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4833600" cy="6864350"/>
            <a:chOff x="1794395" y="-18722"/>
            <a:chExt cx="10391374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794395" y="-18722"/>
              <a:ext cx="8534400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079315" y="739173"/>
              <a:ext cx="6845628" cy="5367281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303932" cy="1148762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913947" y="2301991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1710304"/>
            <a:ext cx="10405532" cy="4792732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hyperlink" Target="https://en.wikipedia.org/wiki/Gemini_(language_model)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marinedatascience.co/software/index.html" TargetMode="External"/><Relationship Id="rId11" Type="http://schemas.openxmlformats.org/officeDocument/2006/relationships/hyperlink" Target="https://jianhongbai.github.io/ReCamMaster/" TargetMode="External"/><Relationship Id="rId5" Type="http://schemas.openxmlformats.org/officeDocument/2006/relationships/image" Target="../media/image9.png"/><Relationship Id="rId15" Type="http://schemas.openxmlformats.org/officeDocument/2006/relationships/hyperlink" Target="https://www.domaineks.com/dominai-serve.html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s://homouniversalis.tistory.com/4" TargetMode="External"/><Relationship Id="rId9" Type="http://schemas.openxmlformats.org/officeDocument/2006/relationships/hyperlink" Target="https://learnosm.org/vi/osm-data/geofabrik-and-hot-export/" TargetMode="External"/><Relationship Id="rId1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58044"/>
            <a:ext cx="12191998" cy="1986845"/>
          </a:xfrm>
        </p:spPr>
        <p:txBody>
          <a:bodyPr anchor="b"/>
          <a:lstStyle/>
          <a:p>
            <a:r>
              <a:rPr lang="en-US" dirty="0"/>
              <a:t>NOVACHAT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PRESENTED BY:BHAVSAGAR</a:t>
            </a:r>
          </a:p>
          <a:p>
            <a:r>
              <a:rPr lang="en-US" dirty="0"/>
              <a:t>REG.NO:12200206</a:t>
            </a:r>
          </a:p>
          <a:p>
            <a:r>
              <a:rPr lang="en-US" dirty="0"/>
              <a:t>PROGRAM:B.TECH(CA &amp;AI)</a:t>
            </a:r>
          </a:p>
          <a:p>
            <a:r>
              <a:rPr lang="en-US" dirty="0"/>
              <a:t>PRESENTED TO :MR SANJEEV DHIMAN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0526-2E05-73C3-2223-DBA3D43A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6DA6-09E3-2E9C-16B2-2C291D48AC2E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INTRODUTION</a:t>
            </a:r>
          </a:p>
          <a:p>
            <a:pPr marL="342900" indent="-342900">
              <a:buAutoNum type="arabicPeriod"/>
            </a:pPr>
            <a:r>
              <a:rPr lang="en-US" dirty="0"/>
              <a:t>OBJECTIVES</a:t>
            </a:r>
          </a:p>
          <a:p>
            <a:pPr marL="342900" indent="-342900">
              <a:buAutoNum type="arabicPeriod"/>
            </a:pPr>
            <a:r>
              <a:rPr lang="en-US" dirty="0"/>
              <a:t>SYSTEM ARCHITECTURE</a:t>
            </a:r>
          </a:p>
          <a:p>
            <a:pPr marL="342900" indent="-342900">
              <a:buAutoNum type="arabicPeriod"/>
            </a:pPr>
            <a:r>
              <a:rPr lang="en-US" dirty="0"/>
              <a:t>WORK FLOW</a:t>
            </a:r>
          </a:p>
          <a:p>
            <a:pPr marL="342900" indent="-342900">
              <a:buAutoNum type="arabicPeriod"/>
            </a:pPr>
            <a:r>
              <a:rPr lang="en-US" dirty="0"/>
              <a:t>TECHNOLOGIES USED</a:t>
            </a:r>
          </a:p>
          <a:p>
            <a:pPr marL="342900" indent="-342900">
              <a:buAutoNum type="arabicPeriod"/>
            </a:pPr>
            <a:r>
              <a:rPr lang="en-US" dirty="0"/>
              <a:t>APPLICATIONS</a:t>
            </a:r>
          </a:p>
          <a:p>
            <a:pPr marL="342900" indent="-342900">
              <a:buAutoNum type="arabicPeriod"/>
            </a:pPr>
            <a:r>
              <a:rPr lang="en-US" dirty="0"/>
              <a:t>CONCLUSIONS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0D6E2-D58B-CE50-C1B9-D9070526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69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8776-6BF1-2282-486C-5DD01E1C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D2BD0-EE7E-DAAD-844D-148453F346D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2120511"/>
          </a:xfrm>
        </p:spPr>
        <p:txBody>
          <a:bodyPr/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+mj-lt"/>
              </a:rPr>
              <a:t>NovaChat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 – A free, all-in-one AI chat app that lets you talk naturally, create stunning images from text, and get instant descriptions of any photo you upload. Everything (messages + images) is saved forever, works instantly as guest or with login, runs on any device, and costs nothing.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808E2-6930-24E8-8F34-45DFB275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45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it-IT" dirty="0">
                <a:latin typeface="+mj-lt"/>
              </a:rPr>
              <a:t>Create a </a:t>
            </a:r>
            <a:r>
              <a:rPr lang="it-IT" b="1" dirty="0">
                <a:latin typeface="+mj-lt"/>
              </a:rPr>
              <a:t>unified multimodal AI assistant</a:t>
            </a:r>
          </a:p>
          <a:p>
            <a:r>
              <a:rPr lang="en-US" dirty="0">
                <a:latin typeface="+mj-lt"/>
              </a:rPr>
              <a:t>Support </a:t>
            </a:r>
            <a:r>
              <a:rPr lang="en-US" b="1" dirty="0">
                <a:latin typeface="+mj-lt"/>
              </a:rPr>
              <a:t>text chat</a:t>
            </a:r>
            <a:r>
              <a:rPr lang="en-US" dirty="0">
                <a:latin typeface="+mj-lt"/>
              </a:rPr>
              <a:t>, </a:t>
            </a:r>
            <a:r>
              <a:rPr lang="en-US" b="1" dirty="0">
                <a:latin typeface="+mj-lt"/>
              </a:rPr>
              <a:t>image generation</a:t>
            </a:r>
            <a:r>
              <a:rPr lang="en-US" dirty="0">
                <a:latin typeface="+mj-lt"/>
              </a:rPr>
              <a:t>, and </a:t>
            </a:r>
            <a:r>
              <a:rPr lang="en-US" b="1" dirty="0">
                <a:latin typeface="+mj-lt"/>
              </a:rPr>
              <a:t>image captioning</a:t>
            </a:r>
          </a:p>
          <a:p>
            <a:r>
              <a:rPr lang="en-US" dirty="0">
                <a:latin typeface="+mj-lt"/>
              </a:rPr>
              <a:t>Maintain </a:t>
            </a:r>
            <a:r>
              <a:rPr lang="en-US" b="1" dirty="0">
                <a:latin typeface="+mj-lt"/>
              </a:rPr>
              <a:t>stateful conversations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dirty="0">
                <a:latin typeface="+mj-lt"/>
              </a:rPr>
              <a:t>Allow </a:t>
            </a:r>
            <a:r>
              <a:rPr lang="en-US" b="1" dirty="0">
                <a:latin typeface="+mj-lt"/>
              </a:rPr>
              <a:t>user authentication &amp; profile management</a:t>
            </a:r>
          </a:p>
          <a:p>
            <a:r>
              <a:rPr lang="en-US" dirty="0">
                <a:latin typeface="+mj-lt"/>
              </a:rPr>
              <a:t>Store full chat history (messages + images) using SQLite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FB0D-ABE7-F395-DF83-D212E752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011484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F9523-4954-2937-F4BD-0575C996B5B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1" y="2474811"/>
            <a:ext cx="4366465" cy="3528397"/>
          </a:xfrm>
        </p:spPr>
        <p:txBody>
          <a:bodyPr/>
          <a:lstStyle/>
          <a:p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Client Layer (Presentation Layer)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Chat layout, sidebar, dialogs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</a:t>
            </a:r>
            <a:r>
              <a:rPr lang="fr-FR" dirty="0">
                <a:latin typeface="+mj-lt"/>
              </a:rPr>
              <a:t>Mode </a:t>
            </a:r>
            <a:r>
              <a:rPr lang="fr-FR" dirty="0" err="1">
                <a:latin typeface="+mj-lt"/>
              </a:rPr>
              <a:t>selection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F8408-B8B0-F364-60F1-9A924D1030E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621108" cy="3528397"/>
          </a:xfrm>
        </p:spPr>
        <p:txBody>
          <a:bodyPr/>
          <a:lstStyle/>
          <a:p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  <a:latin typeface="+mj-lt"/>
              </a:rPr>
              <a:t>Application Layer (Backend Logic)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LangGraph</a:t>
            </a:r>
            <a:r>
              <a:rPr lang="en-US" dirty="0">
                <a:latin typeface="+mj-lt"/>
              </a:rPr>
              <a:t>-Based Stateful Conversation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Multimodal AI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Thread &amp; Message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Authentication &amp; User Logic</a:t>
            </a:r>
            <a:endParaRPr lang="en-US" b="1" u="sng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E72F3-AAB8-18DE-913A-F05C3365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0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1E4AF-DD8A-C82B-B7A3-AC12F14A45F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4F140-75DF-B244-A686-4BDFA19A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30" y="336550"/>
            <a:ext cx="5332360" cy="6184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9F7301-EAAE-2909-7299-C17D06DB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187" y="1062228"/>
            <a:ext cx="4352662" cy="2203704"/>
          </a:xfrm>
        </p:spPr>
        <p:txBody>
          <a:bodyPr/>
          <a:lstStyle/>
          <a:p>
            <a:r>
              <a:rPr lang="en-US" sz="4000" dirty="0"/>
              <a:t>WORK FLOW DIAGRAM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0C38B-1A30-F8B4-C3A3-27029B93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036B3B-5344-CEFF-F942-9167B82A4707}"/>
              </a:ext>
            </a:extLst>
          </p:cNvPr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6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A9A864A-7353-6A26-5483-256ABFEF243C}"/>
              </a:ext>
            </a:extLst>
          </p:cNvPr>
          <p:cNvSpPr/>
          <p:nvPr/>
        </p:nvSpPr>
        <p:spPr>
          <a:xfrm>
            <a:off x="741679" y="2056962"/>
            <a:ext cx="10632245" cy="4169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pPr algn="ctr"/>
            <a:r>
              <a:rPr lang="en-US" dirty="0"/>
              <a:t>Technologies Used</a:t>
            </a:r>
          </a:p>
        </p:txBody>
      </p:sp>
      <p:pic>
        <p:nvPicPr>
          <p:cNvPr id="7" name="Content Placeholder 6" descr="A red paper boat with black text">
            <a:extLst>
              <a:ext uri="{FF2B5EF4-FFF2-40B4-BE49-F238E27FC236}">
                <a16:creationId xmlns:a16="http://schemas.microsoft.com/office/drawing/2014/main" id="{046541C4-BF5E-EBF8-796C-69C318E3DF25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39343" y="3274188"/>
            <a:ext cx="2771525" cy="1821058"/>
          </a:xfrm>
        </p:spPr>
      </p:pic>
      <p:pic>
        <p:nvPicPr>
          <p:cNvPr id="16" name="Content Placeholder 15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6B36414B-77C3-28B8-DC29-BE4970633AA4}"/>
              </a:ext>
            </a:extLst>
          </p:cNvPr>
          <p:cNvPicPr>
            <a:picLocks noGrp="1" noChangeAspect="1"/>
          </p:cNvPicPr>
          <p:nvPr>
            <p:ph sz="quarter" idx="36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flipH="1">
            <a:off x="5101276" y="2472134"/>
            <a:ext cx="2476316" cy="173621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126" name="Picture 6" descr="LangChain: The Future of AI Text Generation | by Bishal Bose | Medium">
            <a:extLst>
              <a:ext uri="{FF2B5EF4-FFF2-40B4-BE49-F238E27FC236}">
                <a16:creationId xmlns:a16="http://schemas.microsoft.com/office/drawing/2014/main" id="{5D601C73-EA38-2A81-4FF0-1F9DAB275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2" r="5480" b="23745"/>
          <a:stretch>
            <a:fillRect/>
          </a:stretch>
        </p:blipFill>
        <p:spPr bwMode="auto">
          <a:xfrm>
            <a:off x="1871708" y="4984591"/>
            <a:ext cx="3206790" cy="106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ue text with a feather">
            <a:extLst>
              <a:ext uri="{FF2B5EF4-FFF2-40B4-BE49-F238E27FC236}">
                <a16:creationId xmlns:a16="http://schemas.microsoft.com/office/drawing/2014/main" id="{72C2C9EF-4076-0C4F-440B-F633BC916E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81625" y="2095294"/>
            <a:ext cx="2786956" cy="1244949"/>
          </a:xfrm>
          <a:prstGeom prst="rect">
            <a:avLst/>
          </a:prstGeom>
        </p:spPr>
      </p:pic>
      <p:pic>
        <p:nvPicPr>
          <p:cNvPr id="24" name="Picture 23" descr="Hugging gace">
            <a:extLst>
              <a:ext uri="{FF2B5EF4-FFF2-40B4-BE49-F238E27FC236}">
                <a16:creationId xmlns:a16="http://schemas.microsoft.com/office/drawing/2014/main" id="{9EC72C9F-E926-6EA4-5B79-CE589A16E6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7676036" y="3191621"/>
            <a:ext cx="3251080" cy="3251080"/>
          </a:xfrm>
          <a:prstGeom prst="rect">
            <a:avLst/>
          </a:prstGeom>
        </p:spPr>
      </p:pic>
      <p:pic>
        <p:nvPicPr>
          <p:cNvPr id="27" name="Picture 26" descr="A blue and white logo&#10;&#10;AI-generated content may be incorrect.">
            <a:extLst>
              <a:ext uri="{FF2B5EF4-FFF2-40B4-BE49-F238E27FC236}">
                <a16:creationId xmlns:a16="http://schemas.microsoft.com/office/drawing/2014/main" id="{713F2219-781D-69A9-5268-5E718614C4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235444" y="2647793"/>
            <a:ext cx="2808017" cy="692450"/>
          </a:xfrm>
          <a:prstGeom prst="rect">
            <a:avLst/>
          </a:prstGeom>
        </p:spPr>
      </p:pic>
      <p:pic>
        <p:nvPicPr>
          <p:cNvPr id="36" name="Picture 3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4A935F9D-F3CD-6DCC-A5E2-54C16435931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953672" y="4408443"/>
            <a:ext cx="2771525" cy="71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ACBD-DA05-10A5-AD7D-B0E14E6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982F3-FA82-B80F-8FEB-AC0E0D1CAC1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Content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Education 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Healthcare Assistants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Virtual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Personal Assistants</a:t>
            </a:r>
          </a:p>
        </p:txBody>
      </p:sp>
    </p:spTree>
    <p:extLst>
      <p:ext uri="{BB962C8B-B14F-4D97-AF65-F5344CB8AC3E}">
        <p14:creationId xmlns:p14="http://schemas.microsoft.com/office/powerpoint/2010/main" val="69834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sz="4000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3D1544-95D3-8A05-6E1B-C08C307C55D4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10800080" y="2465388"/>
            <a:ext cx="448945" cy="34274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A87F05-8B35-9280-2B1F-A8C712310156}"/>
              </a:ext>
            </a:extLst>
          </p:cNvPr>
          <p:cNvSpPr>
            <a:spLocks noGrp="1" noChangeArrowheads="1"/>
          </p:cNvSpPr>
          <p:nvPr>
            <p:ph sz="quarter" idx="36"/>
          </p:nvPr>
        </p:nvSpPr>
        <p:spPr bwMode="auto">
          <a:xfrm>
            <a:off x="814388" y="1904785"/>
            <a:ext cx="7547292" cy="4548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Unified Platform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Multimodal AI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Smart Memory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Fast Processing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User Friendly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Real-Time Output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Effective Performance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30" y="2113274"/>
            <a:ext cx="5890089" cy="2203704"/>
          </a:xfrm>
        </p:spPr>
        <p:txBody>
          <a:bodyPr/>
          <a:lstStyle/>
          <a:p>
            <a:r>
              <a:rPr lang="en-US" sz="6600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5577840"/>
            <a:ext cx="4413250" cy="2540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144</TotalTime>
  <Words>221</Words>
  <Application>Microsoft Office PowerPoint</Application>
  <PresentationFormat>Widescreen</PresentationFormat>
  <Paragraphs>63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Nova</vt:lpstr>
      <vt:lpstr>Biome</vt:lpstr>
      <vt:lpstr>Calibri</vt:lpstr>
      <vt:lpstr>Custom</vt:lpstr>
      <vt:lpstr>NOVACHAT</vt:lpstr>
      <vt:lpstr>Table of content</vt:lpstr>
      <vt:lpstr>INTRODUCTION</vt:lpstr>
      <vt:lpstr>OBJECTIVES</vt:lpstr>
      <vt:lpstr>System Architecture</vt:lpstr>
      <vt:lpstr>WORK FLOW DIAGRAM</vt:lpstr>
      <vt:lpstr>Technologies Used</vt:lpstr>
      <vt:lpstr>APPLICATIONS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 Sagar</dc:creator>
  <cp:lastModifiedBy>Bhav Sagar</cp:lastModifiedBy>
  <cp:revision>2</cp:revision>
  <dcterms:created xsi:type="dcterms:W3CDTF">2025-11-28T19:31:44Z</dcterms:created>
  <dcterms:modified xsi:type="dcterms:W3CDTF">2025-12-01T08:19:18Z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